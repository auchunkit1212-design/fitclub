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7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565392"/>
            <a:ext cx="11064240" cy="0"/>
          </a:xfrm>
          <a:prstGeom prst="line">
            <a:avLst/>
          </a:prstGeom>
          <a:noFill/>
          <a:ln w="12700">
            <a:solidFill>
              <a:srgbClr val="DCE8E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6601968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7181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NUTRITION COACH  ·  FUNDING APPLICATION PRODUCT DEMO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8368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8368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5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400000">
            <a:off x="8046720" y="-1097280"/>
            <a:ext cx="5303520" cy="5303520"/>
          </a:xfrm>
          <a:prstGeom prst="arc">
            <a:avLst/>
          </a:prstGeom>
          <a:solidFill>
            <a:srgbClr val="0D6B4E">
              <a:alpha val="75000"/>
            </a:srgbClr>
          </a:solidFill>
          <a:ln w="12700">
            <a:solidFill>
              <a:srgbClr val="0D6B4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23960" y="4389120"/>
            <a:ext cx="3474720" cy="3474720"/>
          </a:xfrm>
          <a:prstGeom prst="ellipse">
            <a:avLst/>
          </a:prstGeom>
          <a:solidFill>
            <a:srgbClr val="0B7A57">
              <a:alpha val="58000"/>
            </a:srgbClr>
          </a:solidFill>
          <a:ln w="12700">
            <a:solidFill>
              <a:srgbClr val="0B7A57">
                <a:alpha val="0"/>
              </a:srgbClr>
            </a:solidFill>
            <a:prstDash val="solid"/>
          </a:ln>
        </p:spPr>
      </p:sp>
      <p:pic>
        <p:nvPicPr>
          <p:cNvPr id="4" name="Image 0" descr="/workspace/docs/funding-deck-assets/gorill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051560"/>
            <a:ext cx="2880360" cy="28803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13232" y="658368"/>
            <a:ext cx="1965960" cy="310896"/>
          </a:xfrm>
          <a:prstGeom prst="roundRect">
            <a:avLst>
              <a:gd name="adj" fmla="val 23529"/>
            </a:avLst>
          </a:prstGeom>
          <a:solidFill>
            <a:srgbClr val="123E31"/>
          </a:solidFill>
          <a:ln w="12700">
            <a:solidFill>
              <a:srgbClr val="123E3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6384" y="722376"/>
            <a:ext cx="1819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EE7B7"/>
                </a:solidFill>
              </a:rPr>
              <a:t>FUNDING APPLICATION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141732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Nutrition Coach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749808" y="2304288"/>
            <a:ext cx="70866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9F3DC"/>
                </a:solidFill>
              </a:rPr>
              <a:t>AI-Powered White-Label Nutrition SaaS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B9F3DC"/>
                </a:solidFill>
              </a:rPr>
              <a:t>for Fitness Businesses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749808" y="3703320"/>
            <a:ext cx="6629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E6E0"/>
                </a:solidFill>
              </a:rPr>
              <a:t>A mobile-first platform that turns everyday meal logging into personalised coaching, measurable adherence and scalable client management.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49808" y="601675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1A49B"/>
                </a:solidFill>
              </a:rPr>
              <a:t>Product Demonstration Deck  ·  July 2026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098280" y="405079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6EE7B7"/>
                </a:solidFill>
              </a:rPr>
              <a:t>LIVE PRODUCT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549640" y="43616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fitclub-pearl.vercel.app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1148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59669"/>
                </a:solidFill>
              </a:rPr>
              <a:t>THE OPPORTUNITY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21792" y="749808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231C"/>
                </a:solidFill>
              </a:rPr>
              <a:t>Fitness businesses need a better adherence engine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5331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169"/>
                </a:solidFill>
              </a:rPr>
              <a:t>Most nutrition tools stop at tracking. Coaches need visibility, intervention tools and a branded client experience.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965960"/>
            <a:ext cx="5230368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8E3"/>
            </a:solidFill>
            <a:prstDash val="solid"/>
          </a:ln>
          <a:effectLst>
            <a:outerShdw sx="100000" sy="100000" kx="0" ky="0" algn="bl" rotWithShape="0" blurRad="12700" dist="50800" dir="2700000">
              <a:srgbClr val="93A39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50976" y="222199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18488" y="21854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1C"/>
                </a:solidFill>
              </a:rPr>
              <a:t>Manual follow-up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18488" y="2587752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7169"/>
                </a:solidFill>
              </a:rPr>
              <a:t>Meal photos, chat messages and spreadsheets create fragmented workflows for coaches.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5230368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8E3"/>
            </a:solidFill>
            <a:prstDash val="solid"/>
          </a:ln>
          <a:effectLst>
            <a:outerShdw sx="100000" sy="100000" kx="0" ky="0" algn="bl" rotWithShape="0" blurRad="12700" dist="50800" dir="2700000">
              <a:srgbClr val="93A39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601968" y="222199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269480" y="21854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1C"/>
                </a:solidFill>
              </a:rPr>
              <a:t>Low adherence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269480" y="2587752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7169"/>
                </a:solidFill>
              </a:rPr>
              <a:t>Logging feels tedious; clients lose momentum without timely feedback and motivation.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" y="3904488"/>
            <a:ext cx="5230368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8E3"/>
            </a:solidFill>
            <a:prstDash val="solid"/>
          </a:ln>
          <a:effectLst>
            <a:outerShdw sx="100000" sy="100000" kx="0" ky="0" algn="bl" rotWithShape="0" blurRad="12700" dist="50800" dir="2700000">
              <a:srgbClr val="93A39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50976" y="416052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18488" y="41239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1C"/>
                </a:solidFill>
              </a:rPr>
              <a:t>Generic advice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618488" y="4526280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7169"/>
                </a:solidFill>
              </a:rPr>
              <a:t>One-size-fits-all calorie apps do not reflect body profile, goals or coach priorities.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309360" y="3904488"/>
            <a:ext cx="5230368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8E3"/>
            </a:solidFill>
            <a:prstDash val="solid"/>
          </a:ln>
          <a:effectLst>
            <a:outerShdw sx="100000" sy="100000" kx="0" ky="0" algn="bl" rotWithShape="0" blurRad="12700" dist="50800" dir="2700000">
              <a:srgbClr val="93A39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01968" y="416052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269480" y="41239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1C"/>
                </a:solidFill>
              </a:rPr>
              <a:t>Weak retention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269480" y="4526280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7169"/>
                </a:solidFill>
              </a:rPr>
              <a:t>Gyms lack a digital touchpoint that keeps their brand present between sessions.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600200" y="5888736"/>
            <a:ext cx="9006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7857"/>
                </a:solidFill>
              </a:rPr>
              <a:t>Nutrition Coach connects the client habit loop with the coach operating workflow — in one white-label platform.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8368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1148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59669"/>
                </a:solidFill>
              </a:rPr>
              <a:t>PRODUCT OVERVIEW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21792" y="749808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231C"/>
                </a:solidFill>
              </a:rPr>
              <a:t>One platform. Two connected experiences.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5331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169"/>
                </a:solidFill>
              </a:rPr>
              <a:t>Students build sustainable habits while coaches manage outcomes at scale.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76656" y="1828800"/>
            <a:ext cx="2139696" cy="4462272"/>
          </a:xfrm>
          <a:prstGeom prst="roundRect">
            <a:avLst>
              <a:gd name="adj" fmla="val 7692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25400" dist="50800" dir="2700000">
              <a:srgbClr val="64748B">
                <a:alpha val="22000"/>
              </a:srgbClr>
            </a:outerShdw>
          </a:effectLst>
        </p:spPr>
      </p:sp>
      <p:pic>
        <p:nvPicPr>
          <p:cNvPr id="6" name="Image 0" descr="/workspace/docs/funding-deck-assets/02-student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901952"/>
            <a:ext cx="1993392" cy="43159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487363" y="1879092"/>
            <a:ext cx="518282" cy="73152"/>
          </a:xfrm>
          <a:prstGeom prst="roundRect">
            <a:avLst>
              <a:gd name="adj" fmla="val 375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090672" y="19659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59669"/>
                </a:solidFill>
              </a:rPr>
              <a:t>STUDENT APP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090672" y="2377440"/>
            <a:ext cx="347472" cy="34747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090672" y="2450592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593592" y="236829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1C"/>
                </a:solidFill>
              </a:rPr>
              <a:t>Personal daily targets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93592" y="2642616"/>
            <a:ext cx="3611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07169"/>
                </a:solidFill>
              </a:rPr>
              <a:t>Calories and macro guidance adapt to body profile, pace and coach-set goals.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090672" y="3401568"/>
            <a:ext cx="347472" cy="34747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090672" y="3474720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593592" y="339242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1C"/>
                </a:solidFill>
              </a:rPr>
              <a:t>AI-assisted meal logging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593592" y="3666744"/>
            <a:ext cx="3611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07169"/>
                </a:solidFill>
              </a:rPr>
              <a:t>Photo, food search, barcode and nutrition-label OCR reduce logging friction.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090672" y="4425696"/>
            <a:ext cx="347472" cy="34747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090672" y="4498848"/>
            <a:ext cx="347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593592" y="441655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1C"/>
                </a:solidFill>
              </a:rPr>
              <a:t>Feedback that drives action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593592" y="4690872"/>
            <a:ext cx="3611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07169"/>
                </a:solidFill>
              </a:rPr>
              <a:t>AI reviews, coach comments, reminders and streak celebrations close the loop.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7178040" y="1956816"/>
            <a:ext cx="0" cy="4160520"/>
          </a:xfrm>
          <a:prstGeom prst="line">
            <a:avLst/>
          </a:prstGeom>
          <a:noFill/>
          <a:ln w="15240">
            <a:solidFill>
              <a:srgbClr val="DCE8E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070848" y="1828800"/>
            <a:ext cx="2139696" cy="4462272"/>
          </a:xfrm>
          <a:prstGeom prst="roundRect">
            <a:avLst>
              <a:gd name="adj" fmla="val 7692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25400" dist="50800" dir="2700000">
              <a:srgbClr val="64748B">
                <a:alpha val="22000"/>
              </a:srgbClr>
            </a:outerShdw>
          </a:effectLst>
        </p:spPr>
      </p:sp>
      <p:pic>
        <p:nvPicPr>
          <p:cNvPr id="23" name="Image 1" descr="/workspace/docs/funding-deck-assets/08-coach-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901952"/>
            <a:ext cx="1993392" cy="4315968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9881555" y="1879092"/>
            <a:ext cx="518282" cy="73152"/>
          </a:xfrm>
          <a:prstGeom prst="roundRect">
            <a:avLst>
              <a:gd name="adj" fmla="val 375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516368" y="196596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C3AED"/>
                </a:solidFill>
              </a:rPr>
              <a:t>COACH PORTAL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516368" y="239572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31C"/>
                </a:solidFill>
              </a:rPr>
              <a:t>White-label brand control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7516368" y="324612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31C"/>
                </a:solidFill>
              </a:rPr>
              <a:t>Student monitoring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7516368" y="409651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31C"/>
                </a:solidFill>
              </a:rPr>
              <a:t>Targets &amp; interventions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7516368" y="494690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31C"/>
                </a:solidFill>
              </a:rPr>
              <a:t>AI reports &amp; CRM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8368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1148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59669"/>
                </a:solidFill>
              </a:rPr>
              <a:t>HOW IT WORKS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21792" y="749808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231C"/>
                </a:solidFill>
              </a:rPr>
              <a:t>From meal to meaningful action in four steps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5331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169"/>
                </a:solidFill>
              </a:rPr>
              <a:t>A mobile-first workflow designed for daily use — not occasional reporting.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755648"/>
            <a:ext cx="2103120" cy="4389120"/>
          </a:xfrm>
          <a:prstGeom prst="roundRect">
            <a:avLst>
              <a:gd name="adj" fmla="val 7826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25400" dist="50800" dir="2700000">
              <a:srgbClr val="64748B">
                <a:alpha val="22000"/>
              </a:srgbClr>
            </a:outerShdw>
          </a:effectLst>
        </p:spPr>
      </p:sp>
      <p:pic>
        <p:nvPicPr>
          <p:cNvPr id="6" name="Image 0" descr="/workspace/docs/funding-deck-assets/03-add-m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28800"/>
            <a:ext cx="1956816" cy="424281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437254" y="1805940"/>
            <a:ext cx="508772" cy="73152"/>
          </a:xfrm>
          <a:prstGeom prst="roundRect">
            <a:avLst>
              <a:gd name="adj" fmla="val 375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154680" y="1993392"/>
            <a:ext cx="3703320" cy="1517904"/>
          </a:xfrm>
          <a:prstGeom prst="roundRect">
            <a:avLst>
              <a:gd name="adj" fmla="val 7229"/>
            </a:avLst>
          </a:prstGeom>
          <a:solidFill>
            <a:srgbClr val="E8F8F1"/>
          </a:solidFill>
          <a:ln w="12700">
            <a:solidFill>
              <a:srgbClr val="A7E8D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10712" y="2240280"/>
            <a:ext cx="438912" cy="43891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410712" y="2340864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995928" y="221284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31C"/>
                </a:solidFill>
              </a:rPr>
              <a:t>Capture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3995928" y="2596896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7169"/>
                </a:solidFill>
              </a:rPr>
              <a:t>Take a meal photo, scan a nutrition label, use barcode search or type the food.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223760" y="1993392"/>
            <a:ext cx="3703320" cy="1517904"/>
          </a:xfrm>
          <a:prstGeom prst="roundRect">
            <a:avLst>
              <a:gd name="adj" fmla="val 7229"/>
            </a:avLst>
          </a:prstGeom>
          <a:solidFill>
            <a:srgbClr val="FFFFFF"/>
          </a:solidFill>
          <a:ln w="12700">
            <a:solidFill>
              <a:srgbClr val="DCE8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479792" y="2240280"/>
            <a:ext cx="438912" cy="43891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79792" y="2340864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065008" y="221284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31C"/>
                </a:solidFill>
              </a:rPr>
              <a:t>Understand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065008" y="2596896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7169"/>
                </a:solidFill>
              </a:rPr>
              <a:t>AI estimates calories and macros; the user confirms serving size before saving.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154680" y="3959352"/>
            <a:ext cx="3703320" cy="1517904"/>
          </a:xfrm>
          <a:prstGeom prst="roundRect">
            <a:avLst>
              <a:gd name="adj" fmla="val 7229"/>
            </a:avLst>
          </a:prstGeom>
          <a:solidFill>
            <a:srgbClr val="FFFFFF"/>
          </a:solidFill>
          <a:ln w="12700">
            <a:solidFill>
              <a:srgbClr val="DCE8E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410712" y="4206240"/>
            <a:ext cx="438912" cy="43891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10712" y="4306824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995928" y="417880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31C"/>
                </a:solidFill>
              </a:rPr>
              <a:t>Coach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95928" y="4562856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7169"/>
                </a:solidFill>
              </a:rPr>
              <a:t>The platform compares intake with personalised targets and delivers useful feedback.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223760" y="3959352"/>
            <a:ext cx="3703320" cy="1517904"/>
          </a:xfrm>
          <a:prstGeom prst="roundRect">
            <a:avLst>
              <a:gd name="adj" fmla="val 7229"/>
            </a:avLst>
          </a:prstGeom>
          <a:solidFill>
            <a:srgbClr val="FFFFFF"/>
          </a:solidFill>
          <a:ln w="12700">
            <a:solidFill>
              <a:srgbClr val="DCE8E3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79792" y="4206240"/>
            <a:ext cx="438912" cy="43891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79792" y="4306824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065008" y="417880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31C"/>
                </a:solidFill>
              </a:rPr>
              <a:t>Act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8065008" y="4562856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7169"/>
                </a:solidFill>
              </a:rPr>
              <a:t>Coach reviews, nudges, comments and reminders help the student correct course.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182112" y="5650992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DDF7EC"/>
          </a:solidFill>
          <a:ln w="12700">
            <a:solidFill>
              <a:srgbClr val="DDF7E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255264" y="5715000"/>
            <a:ext cx="8138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</a:rPr>
              <a:t>PHOTO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4279392" y="5650992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352544" y="5715000"/>
            <a:ext cx="8138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84C7"/>
                </a:solidFill>
              </a:rPr>
              <a:t>AI OCR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376672" y="5650992"/>
            <a:ext cx="1078992" cy="310896"/>
          </a:xfrm>
          <a:prstGeom prst="roundRect">
            <a:avLst>
              <a:gd name="adj" fmla="val 23529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449824" y="571500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BARCODE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6601968" y="5650992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675120" y="5715000"/>
            <a:ext cx="145389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</a:rPr>
              <a:t>LOCAL FOOD SEARCH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8339328" y="5650992"/>
            <a:ext cx="1508760" cy="310896"/>
          </a:xfrm>
          <a:prstGeom prst="roundRect">
            <a:avLst>
              <a:gd name="adj" fmla="val 23529"/>
            </a:avLst>
          </a:prstGeom>
          <a:solidFill>
            <a:srgbClr val="DDF7EC"/>
          </a:solidFill>
          <a:ln w="12700">
            <a:solidFill>
              <a:srgbClr val="DDF7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412480" y="5715000"/>
            <a:ext cx="13624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47857"/>
                </a:solidFill>
              </a:rPr>
              <a:t>PORTION CONTROL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8368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1148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59669"/>
                </a:solidFill>
              </a:rPr>
              <a:t>CORE INNOVATION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21792" y="749808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231C"/>
                </a:solidFill>
              </a:rPr>
              <a:t>AI that supports the coach — not replaces the coach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5331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169"/>
                </a:solidFill>
              </a:rPr>
              <a:t>Nutrition Coach combines automation with human accountability and configurable guardrails.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13232" y="1920240"/>
            <a:ext cx="6720840" cy="4114800"/>
          </a:xfrm>
          <a:prstGeom prst="roundRect">
            <a:avLst>
              <a:gd name="adj" fmla="val 3556"/>
            </a:avLst>
          </a:prstGeom>
          <a:solidFill>
            <a:srgbClr val="10251D"/>
          </a:solidFill>
          <a:ln w="12700">
            <a:solidFill>
              <a:srgbClr val="1025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22402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EE7B7"/>
                </a:solidFill>
              </a:rPr>
              <a:t>INTELLIGENCE LAYER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024128" y="2724912"/>
            <a:ext cx="164592" cy="164592"/>
          </a:xfrm>
          <a:prstGeom prst="ellipse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53312" y="269748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Meal understanding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02152" y="2697480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8D1"/>
                </a:solidFill>
              </a:rPr>
              <a:t>Photo recognition, label OCR and food search support mixed local meals.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024128" y="3483864"/>
            <a:ext cx="164592" cy="16459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53312" y="345643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Goal-aware recommendations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02152" y="3456432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8D1"/>
                </a:solidFill>
              </a:rPr>
              <a:t>Suggestions use remaining calories, protein, carbs and fats.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24128" y="4242816"/>
            <a:ext cx="164592" cy="164592"/>
          </a:xfrm>
          <a:prstGeom prst="ellipse">
            <a:avLst/>
          </a:prstGeom>
          <a:solidFill>
            <a:srgbClr val="6EE7B7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53312" y="4215384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Adaptive feedback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02152" y="4215384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8D1"/>
                </a:solidFill>
              </a:rPr>
              <a:t>Daily compliance prioritises adequate protein while allowing realistic tolerance.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024128" y="5001768"/>
            <a:ext cx="164592" cy="16459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53312" y="497433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Coach intelligence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02152" y="4974336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8D1"/>
                </a:solidFill>
              </a:rPr>
              <a:t>Review queues and AI summaries surface where human attention is most valuable.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567928" y="1709928"/>
            <a:ext cx="2203704" cy="4599432"/>
          </a:xfrm>
          <a:prstGeom prst="roundRect">
            <a:avLst>
              <a:gd name="adj" fmla="val 746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25400" dist="50800" dir="2700000">
              <a:srgbClr val="64748B">
                <a:alpha val="22000"/>
              </a:srgbClr>
            </a:outerShdw>
          </a:effectLst>
        </p:spPr>
      </p:sp>
      <p:pic>
        <p:nvPicPr>
          <p:cNvPr id="20" name="Image 0" descr="/workspace/docs/funding-deck-assets/02-student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1080" y="1783080"/>
            <a:ext cx="2057400" cy="4453128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9402318" y="1760220"/>
            <a:ext cx="534924" cy="73152"/>
          </a:xfrm>
          <a:prstGeom prst="roundRect">
            <a:avLst>
              <a:gd name="adj" fmla="val 375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44968" y="2514600"/>
            <a:ext cx="13258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DCE8E3"/>
            </a:solidFill>
            <a:prstDash val="solid"/>
          </a:ln>
          <a:effectLst>
            <a:outerShdw sx="100000" sy="100000" kx="0" ky="0" algn="bl" rotWithShape="0" blurRad="12700" dist="50800" dir="2700000">
              <a:srgbClr val="64748B">
                <a:alpha val="15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882128" y="2670048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47857"/>
                </a:solidFill>
              </a:rPr>
              <a:t>AI REVIEW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47857"/>
                </a:solidFill>
              </a:rPr>
              <a:t>IN CONTEXT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9070848" y="2852928"/>
            <a:ext cx="310896" cy="0"/>
          </a:xfrm>
          <a:prstGeom prst="line">
            <a:avLst/>
          </a:prstGeom>
          <a:noFill/>
          <a:ln w="25400">
            <a:solidFill>
              <a:srgbClr val="059669"/>
            </a:solidFill>
            <a:prstDash val="solid"/>
            <a:headEnd type="none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8368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1148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59669"/>
                </a:solidFill>
              </a:rPr>
              <a:t>BEHAVIOUR &amp; RETENTION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21792" y="749808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231C"/>
                </a:solidFill>
              </a:rPr>
              <a:t>Make healthy consistency visible — and shareable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5331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169"/>
                </a:solidFill>
              </a:rPr>
              <a:t>The platform turns logging into a motivational loop across progress, streaks and community.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773936"/>
            <a:ext cx="2112264" cy="4398264"/>
          </a:xfrm>
          <a:prstGeom prst="roundRect">
            <a:avLst>
              <a:gd name="adj" fmla="val 7792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25400" dist="50800" dir="2700000">
              <a:srgbClr val="64748B">
                <a:alpha val="22000"/>
              </a:srgbClr>
            </a:outerShdw>
          </a:effectLst>
        </p:spPr>
      </p:sp>
      <p:pic>
        <p:nvPicPr>
          <p:cNvPr id="6" name="Image 0" descr="/workspace/docs/funding-deck-assets/04-hi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47088"/>
            <a:ext cx="1965960" cy="4251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458925" y="1824228"/>
            <a:ext cx="511150" cy="73152"/>
          </a:xfrm>
          <a:prstGeom prst="roundRect">
            <a:avLst>
              <a:gd name="adj" fmla="val 375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172968" y="1773936"/>
            <a:ext cx="2112264" cy="4398264"/>
          </a:xfrm>
          <a:prstGeom prst="roundRect">
            <a:avLst>
              <a:gd name="adj" fmla="val 7792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25400" dist="50800" dir="2700000">
              <a:srgbClr val="64748B">
                <a:alpha val="22000"/>
              </a:srgbClr>
            </a:outerShdw>
          </a:effectLst>
        </p:spPr>
      </p:sp>
      <p:pic>
        <p:nvPicPr>
          <p:cNvPr id="9" name="Image 1" descr="/workspace/docs/funding-deck-assets/05-commun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847088"/>
            <a:ext cx="1965960" cy="42519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973525" y="1824228"/>
            <a:ext cx="511150" cy="73152"/>
          </a:xfrm>
          <a:prstGeom prst="roundRect">
            <a:avLst>
              <a:gd name="adj" fmla="val 375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687568" y="1773936"/>
            <a:ext cx="2112264" cy="4398264"/>
          </a:xfrm>
          <a:prstGeom prst="roundRect">
            <a:avLst>
              <a:gd name="adj" fmla="val 7792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25400" dist="50800" dir="2700000">
              <a:srgbClr val="64748B">
                <a:alpha val="22000"/>
              </a:srgbClr>
            </a:outerShdw>
          </a:effectLst>
        </p:spPr>
      </p:sp>
      <p:pic>
        <p:nvPicPr>
          <p:cNvPr id="12" name="Image 2" descr="/workspace/docs/funding-deck-assets/06-prof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847088"/>
            <a:ext cx="1965960" cy="425196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488125" y="1824228"/>
            <a:ext cx="511150" cy="73152"/>
          </a:xfrm>
          <a:prstGeom prst="roundRect">
            <a:avLst>
              <a:gd name="adj" fmla="val 375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731520" y="61996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Visual progress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3246120" y="61996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4C7"/>
                </a:solidFill>
              </a:rPr>
              <a:t>Community support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5760720" y="6199632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Streak motivation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366760" y="1901952"/>
            <a:ext cx="3127248" cy="4160520"/>
          </a:xfrm>
          <a:prstGeom prst="roundRect">
            <a:avLst>
              <a:gd name="adj" fmla="val 4678"/>
            </a:avLst>
          </a:prstGeom>
          <a:solidFill>
            <a:srgbClr val="FFFFFF"/>
          </a:solidFill>
          <a:ln w="12700">
            <a:solidFill>
              <a:srgbClr val="DCE8E3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8732520" y="2267712"/>
            <a:ext cx="2395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10" kern="0" dirty="0">
                <a:solidFill>
                  <a:srgbClr val="059669"/>
                </a:solidFill>
              </a:rPr>
              <a:t>ENGAGEMENT LOOP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8705088" y="2761488"/>
            <a:ext cx="2450592" cy="530352"/>
          </a:xfrm>
          <a:prstGeom prst="roundRect">
            <a:avLst>
              <a:gd name="adj" fmla="val 13793"/>
            </a:avLst>
          </a:prstGeom>
          <a:solidFill>
            <a:srgbClr val="EEF8F4"/>
          </a:solidFill>
          <a:ln w="12700">
            <a:solidFill>
              <a:srgbClr val="BFE8D7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8869680" y="285292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7857"/>
                </a:solidFill>
              </a:rPr>
              <a:t>LOG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9646920" y="2852928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7169"/>
                </a:solidFill>
              </a:rPr>
              <a:t>Low-friction daily action</a:t>
            </a:r>
            <a:endParaRPr lang="en-US" sz="850" dirty="0"/>
          </a:p>
        </p:txBody>
      </p:sp>
      <p:sp>
        <p:nvSpPr>
          <p:cNvPr id="22" name="Text 17"/>
          <p:cNvSpPr/>
          <p:nvPr/>
        </p:nvSpPr>
        <p:spPr>
          <a:xfrm>
            <a:off x="9765792" y="3282696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59669"/>
                </a:solidFill>
              </a:rPr>
              <a:t>↓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8705088" y="3474720"/>
            <a:ext cx="2450592" cy="530352"/>
          </a:xfrm>
          <a:prstGeom prst="roundRect">
            <a:avLst>
              <a:gd name="adj" fmla="val 13793"/>
            </a:avLst>
          </a:prstGeom>
          <a:solidFill>
            <a:srgbClr val="EEF8F4"/>
          </a:solidFill>
          <a:ln w="12700">
            <a:solidFill>
              <a:srgbClr val="BFE8D7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8869680" y="356616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7857"/>
                </a:solidFill>
              </a:rPr>
              <a:t>SEE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9646920" y="356616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7169"/>
                </a:solidFill>
              </a:rPr>
              <a:t>Immediate progress feedback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9765792" y="399592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59669"/>
                </a:solidFill>
              </a:rPr>
              <a:t>↓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705088" y="4187952"/>
            <a:ext cx="2450592" cy="530352"/>
          </a:xfrm>
          <a:prstGeom prst="roundRect">
            <a:avLst>
              <a:gd name="adj" fmla="val 13793"/>
            </a:avLst>
          </a:prstGeom>
          <a:solidFill>
            <a:srgbClr val="FFF1E6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869680" y="427939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97316"/>
                </a:solidFill>
              </a:rPr>
              <a:t>CELEBRATE</a:t>
            </a:r>
            <a:endParaRPr lang="en-US" sz="900" dirty="0"/>
          </a:p>
        </p:txBody>
      </p:sp>
      <p:sp>
        <p:nvSpPr>
          <p:cNvPr id="29" name="Text 24"/>
          <p:cNvSpPr/>
          <p:nvPr/>
        </p:nvSpPr>
        <p:spPr>
          <a:xfrm>
            <a:off x="9646920" y="4279392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7169"/>
                </a:solidFill>
              </a:rPr>
              <a:t>Streak + shareable card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9765792" y="47091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59669"/>
                </a:solidFill>
              </a:rPr>
              <a:t>↓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8705088" y="4901184"/>
            <a:ext cx="2450592" cy="530352"/>
          </a:xfrm>
          <a:prstGeom prst="roundRect">
            <a:avLst>
              <a:gd name="adj" fmla="val 13793"/>
            </a:avLst>
          </a:prstGeom>
          <a:solidFill>
            <a:srgbClr val="EEF8F4"/>
          </a:solidFill>
          <a:ln w="12700">
            <a:solidFill>
              <a:srgbClr val="BFE8D7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8869680" y="499262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47857"/>
                </a:solidFill>
              </a:rPr>
              <a:t>CONNECT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9646920" y="4992624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7169"/>
                </a:solidFill>
              </a:rPr>
              <a:t>Coach + community response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8368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1148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59669"/>
                </a:solidFill>
              </a:rPr>
              <a:t>B2B VALUE PROPOSITION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21792" y="749808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231C"/>
                </a:solidFill>
              </a:rPr>
              <a:t>A digital operating system for coaches and gyms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5331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169"/>
                </a:solidFill>
              </a:rPr>
              <a:t>White-label delivery creates recurring value for both the fitness business and its clients.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755648"/>
            <a:ext cx="2139696" cy="4462272"/>
          </a:xfrm>
          <a:prstGeom prst="roundRect">
            <a:avLst>
              <a:gd name="adj" fmla="val 7692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25400" dist="50800" dir="2700000">
              <a:srgbClr val="64748B">
                <a:alpha val="22000"/>
              </a:srgbClr>
            </a:outerShdw>
          </a:effectLst>
        </p:spPr>
      </p:sp>
      <p:pic>
        <p:nvPicPr>
          <p:cNvPr id="6" name="Image 0" descr="/workspace/docs/funding-deck-assets/08-coach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828800"/>
            <a:ext cx="1993392" cy="43159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542227" y="1805940"/>
            <a:ext cx="518282" cy="73152"/>
          </a:xfrm>
          <a:prstGeom prst="roundRect">
            <a:avLst>
              <a:gd name="adj" fmla="val 375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310128" y="1965960"/>
            <a:ext cx="36118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CE8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38728" y="2167128"/>
            <a:ext cx="530352" cy="310896"/>
          </a:xfrm>
          <a:prstGeom prst="roundRect">
            <a:avLst>
              <a:gd name="adj" fmla="val 23529"/>
            </a:avLst>
          </a:prstGeom>
          <a:solidFill>
            <a:srgbClr val="DDF7EC"/>
          </a:solidFill>
          <a:ln w="12700">
            <a:solidFill>
              <a:srgbClr val="DDF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11880" y="2231136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</a:rPr>
              <a:t>01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242816" y="217627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1C"/>
                </a:solidFill>
              </a:rPr>
              <a:t>Brand ownership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566160" y="263347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607169"/>
                </a:solidFill>
              </a:rPr>
              <a:t>Custom app name, theme, logo and announcements keep the gym at the centre of the client journey.</a:t>
            </a:r>
            <a:endParaRPr lang="en-US" sz="1030" dirty="0"/>
          </a:p>
        </p:txBody>
      </p:sp>
      <p:sp>
        <p:nvSpPr>
          <p:cNvPr id="13" name="Shape 10"/>
          <p:cNvSpPr/>
          <p:nvPr/>
        </p:nvSpPr>
        <p:spPr>
          <a:xfrm>
            <a:off x="7287768" y="1965960"/>
            <a:ext cx="36118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CE8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516368" y="2167128"/>
            <a:ext cx="530352" cy="310896"/>
          </a:xfrm>
          <a:prstGeom prst="roundRect">
            <a:avLst>
              <a:gd name="adj" fmla="val 23529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89520" y="2231136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84C7"/>
                </a:solidFill>
              </a:rPr>
              <a:t>02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220456" y="217627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1C"/>
                </a:solidFill>
              </a:rPr>
              <a:t>Actionable oversight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543800" y="263347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607169"/>
                </a:solidFill>
              </a:rPr>
              <a:t>Daily status, meal review queues and history highlight who needs help now.</a:t>
            </a:r>
            <a:endParaRPr lang="en-US" sz="1030" dirty="0"/>
          </a:p>
        </p:txBody>
      </p:sp>
      <p:sp>
        <p:nvSpPr>
          <p:cNvPr id="18" name="Shape 15"/>
          <p:cNvSpPr/>
          <p:nvPr/>
        </p:nvSpPr>
        <p:spPr>
          <a:xfrm>
            <a:off x="3310128" y="3867912"/>
            <a:ext cx="36118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CE8E3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538728" y="4069080"/>
            <a:ext cx="530352" cy="310896"/>
          </a:xfrm>
          <a:prstGeom prst="roundRect">
            <a:avLst>
              <a:gd name="adj" fmla="val 23529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11880" y="4133088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03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242816" y="407822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1C"/>
                </a:solidFill>
              </a:rPr>
              <a:t>Remote intervention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3566160" y="453542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607169"/>
                </a:solidFill>
              </a:rPr>
              <a:t>Coach targets, comments, stickers and push nudges extend service beyond the gym floor.</a:t>
            </a:r>
            <a:endParaRPr lang="en-US" sz="1030" dirty="0"/>
          </a:p>
        </p:txBody>
      </p:sp>
      <p:sp>
        <p:nvSpPr>
          <p:cNvPr id="23" name="Shape 20"/>
          <p:cNvSpPr/>
          <p:nvPr/>
        </p:nvSpPr>
        <p:spPr>
          <a:xfrm>
            <a:off x="7287768" y="3867912"/>
            <a:ext cx="36118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CE8E3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516368" y="4069080"/>
            <a:ext cx="530352" cy="310896"/>
          </a:xfrm>
          <a:prstGeom prst="roundRect">
            <a:avLst>
              <a:gd name="adj" fmla="val 23529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589520" y="4133088"/>
            <a:ext cx="384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</a:rPr>
              <a:t>04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8220456" y="407822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1C"/>
                </a:solidFill>
              </a:rPr>
              <a:t>Operational leverage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543800" y="453542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607169"/>
                </a:solidFill>
              </a:rPr>
              <a:t>AI reports and structured workflows let each coach support more clients consistently.</a:t>
            </a:r>
            <a:endParaRPr lang="en-US" sz="1030" dirty="0"/>
          </a:p>
        </p:txBody>
      </p:sp>
      <p:sp>
        <p:nvSpPr>
          <p:cNvPr id="28" name="Shape 25"/>
          <p:cNvSpPr/>
          <p:nvPr/>
        </p:nvSpPr>
        <p:spPr>
          <a:xfrm>
            <a:off x="3310128" y="5833872"/>
            <a:ext cx="7589520" cy="384048"/>
          </a:xfrm>
          <a:prstGeom prst="roundRect">
            <a:avLst>
              <a:gd name="adj" fmla="val 19048"/>
            </a:avLst>
          </a:prstGeom>
          <a:solidFill>
            <a:srgbClr val="10251D"/>
          </a:solidFill>
          <a:ln w="12700">
            <a:solidFill>
              <a:srgbClr val="10251D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520440" y="5934456"/>
            <a:ext cx="7178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9F3DC"/>
                </a:solidFill>
              </a:rPr>
              <a:t>Designed for gyms, personal trainers, online coaches and wellness programmes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8368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1148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59669"/>
                </a:solidFill>
              </a:rPr>
              <a:t>TECHNOLOGY &amp; DEFENSIBILITY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21792" y="749808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231C"/>
                </a:solidFill>
              </a:rPr>
              <a:t>Built to scale as a secure multi-tenant SaaS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5331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169"/>
                </a:solidFill>
              </a:rPr>
              <a:t>A production-oriented architecture supports white-label growth, AI services and cross-platform delivery.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7086600" cy="658368"/>
          </a:xfrm>
          <a:prstGeom prst="roundRect">
            <a:avLst>
              <a:gd name="adj" fmla="val 125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05740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47857"/>
                </a:solidFill>
              </a:rPr>
              <a:t>EXPERIENCE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487168" y="2048256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2231C"/>
                </a:solidFill>
              </a:rPr>
              <a:t>Mobile-first PWA  ·  iOS &amp; Android wrappers  ·  Multilingual UI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987552" y="2770632"/>
            <a:ext cx="6757416" cy="658368"/>
          </a:xfrm>
          <a:prstGeom prst="roundRect">
            <a:avLst>
              <a:gd name="adj" fmla="val 125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61872" y="29077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284C7"/>
                </a:solidFill>
              </a:rPr>
              <a:t>APPLICATION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596896" y="2898648"/>
            <a:ext cx="4471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2231C"/>
                </a:solidFill>
              </a:rPr>
              <a:t>Student app  ·  Coach portal  ·  Admin console  ·  Community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1152144" y="3621024"/>
            <a:ext cx="6428232" cy="658368"/>
          </a:xfrm>
          <a:prstGeom prst="roundRect">
            <a:avLst>
              <a:gd name="adj" fmla="val 125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26464" y="375818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C3AED"/>
                </a:solidFill>
              </a:rPr>
              <a:t>INTELLIGENCE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706624" y="3749040"/>
            <a:ext cx="4142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2231C"/>
                </a:solidFill>
              </a:rPr>
              <a:t>Vision  ·  OCR  ·  Food search  ·  Recommendations  ·  AI reviews</a:t>
            </a:r>
            <a:endParaRPr lang="en-US" sz="1120" dirty="0"/>
          </a:p>
        </p:txBody>
      </p:sp>
      <p:sp>
        <p:nvSpPr>
          <p:cNvPr id="14" name="Shape 12"/>
          <p:cNvSpPr/>
          <p:nvPr/>
        </p:nvSpPr>
        <p:spPr>
          <a:xfrm>
            <a:off x="1316736" y="4471416"/>
            <a:ext cx="6099048" cy="658368"/>
          </a:xfrm>
          <a:prstGeom prst="roundRect">
            <a:avLst>
              <a:gd name="adj" fmla="val 12500"/>
            </a:avLst>
          </a:prstGeom>
          <a:solidFill>
            <a:srgbClr val="FFF1E6"/>
          </a:solidFill>
          <a:ln w="12700">
            <a:solidFill>
              <a:srgbClr val="FFF1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91056" y="46085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97316"/>
                </a:solidFill>
              </a:rPr>
              <a:t>DATA &amp; AUTOMATION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816352" y="4599432"/>
            <a:ext cx="3813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2231C"/>
                </a:solidFill>
              </a:rPr>
              <a:t>Supabase  ·  Multi-tenant records  ·  Web Push  ·  Scheduled workflows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8275320" y="1920240"/>
            <a:ext cx="2971800" cy="3200400"/>
          </a:xfrm>
          <a:prstGeom prst="roundRect">
            <a:avLst>
              <a:gd name="adj" fmla="val 4923"/>
            </a:avLst>
          </a:prstGeom>
          <a:solidFill>
            <a:srgbClr val="10251D"/>
          </a:solidFill>
          <a:ln w="12700">
            <a:solidFill>
              <a:srgbClr val="10251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41080" y="2267712"/>
            <a:ext cx="2240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10" kern="0" dirty="0">
                <a:solidFill>
                  <a:srgbClr val="6EE7B7"/>
                </a:solidFill>
              </a:rPr>
              <a:t>WHY IT CAN SCALE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641080" y="274320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E7B7"/>
                </a:solidFill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961120" y="274320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Tenant-level branding and data separation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641080" y="317296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E7B7"/>
                </a:solidFill>
              </a:rPr>
              <a:t>✓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961120" y="317296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Cloud database and storage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641080" y="360273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E7B7"/>
                </a:solidFill>
              </a:rPr>
              <a:t>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961120" y="360273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Reusable AI service layer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641080" y="403250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E7B7"/>
                </a:solidFill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961120" y="403250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Automated reminders and CRM workflows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641080" y="446227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E7B7"/>
                </a:solidFill>
              </a:rPr>
              <a:t>✓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961120" y="446227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Single codebase across web and mobile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68680" y="55961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07169"/>
                </a:solidFill>
              </a:rPr>
              <a:t>Production stack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057400" y="5504688"/>
            <a:ext cx="1069848" cy="310896"/>
          </a:xfrm>
          <a:prstGeom prst="roundRect">
            <a:avLst>
              <a:gd name="adj" fmla="val 23529"/>
            </a:avLst>
          </a:prstGeom>
          <a:solidFill>
            <a:srgbClr val="DDF7EC"/>
          </a:solidFill>
          <a:ln w="12700">
            <a:solidFill>
              <a:srgbClr val="DDF7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30552" y="5568696"/>
            <a:ext cx="9235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47857"/>
                </a:solidFill>
              </a:rPr>
              <a:t>Next.js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264408" y="5504688"/>
            <a:ext cx="1069848" cy="310896"/>
          </a:xfrm>
          <a:prstGeom prst="roundRect">
            <a:avLst>
              <a:gd name="adj" fmla="val 23529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37560" y="5568696"/>
            <a:ext cx="9235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47857"/>
                </a:solidFill>
              </a:rPr>
              <a:t>TypeScript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471416" y="5504688"/>
            <a:ext cx="1069848" cy="310896"/>
          </a:xfrm>
          <a:prstGeom prst="roundRect">
            <a:avLst>
              <a:gd name="adj" fmla="val 23529"/>
            </a:avLst>
          </a:prstGeom>
          <a:solidFill>
            <a:srgbClr val="DDF7EC"/>
          </a:solidFill>
          <a:ln w="12700">
            <a:solidFill>
              <a:srgbClr val="DDF7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44568" y="5568696"/>
            <a:ext cx="9235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47857"/>
                </a:solidFill>
              </a:rPr>
              <a:t>Supabase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78424" y="5504688"/>
            <a:ext cx="1069848" cy="310896"/>
          </a:xfrm>
          <a:prstGeom prst="roundRect">
            <a:avLst>
              <a:gd name="adj" fmla="val 23529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51576" y="5568696"/>
            <a:ext cx="9235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47857"/>
                </a:solidFill>
              </a:rPr>
              <a:t>OpenRouter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885432" y="5504688"/>
            <a:ext cx="1069848" cy="310896"/>
          </a:xfrm>
          <a:prstGeom prst="roundRect">
            <a:avLst>
              <a:gd name="adj" fmla="val 23529"/>
            </a:avLst>
          </a:prstGeom>
          <a:solidFill>
            <a:srgbClr val="DDF7EC"/>
          </a:solidFill>
          <a:ln w="12700">
            <a:solidFill>
              <a:srgbClr val="DDF7E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58584" y="5568696"/>
            <a:ext cx="9235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47857"/>
                </a:solidFill>
              </a:rPr>
              <a:t>Stripe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092440" y="5504688"/>
            <a:ext cx="1069848" cy="310896"/>
          </a:xfrm>
          <a:prstGeom prst="roundRect">
            <a:avLst>
              <a:gd name="adj" fmla="val 23529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65592" y="5568696"/>
            <a:ext cx="9235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47857"/>
                </a:solidFill>
              </a:rPr>
              <a:t>Web Push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9299448" y="5504688"/>
            <a:ext cx="1069848" cy="310896"/>
          </a:xfrm>
          <a:prstGeom prst="roundRect">
            <a:avLst>
              <a:gd name="adj" fmla="val 23529"/>
            </a:avLst>
          </a:prstGeom>
          <a:solidFill>
            <a:srgbClr val="DDF7EC"/>
          </a:solidFill>
          <a:ln w="12700">
            <a:solidFill>
              <a:srgbClr val="DDF7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372600" y="5568696"/>
            <a:ext cx="9235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47857"/>
                </a:solidFill>
              </a:rPr>
              <a:t>Capacitor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8368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1148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59669"/>
                </a:solidFill>
              </a:rPr>
              <a:t>COMMERCIAL MODEL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21792" y="749808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231C"/>
                </a:solidFill>
              </a:rPr>
              <a:t>Recurring SaaS revenue with multiple entry points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5331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169"/>
                </a:solidFill>
              </a:rPr>
              <a:t>The model supports direct-to-consumer acquisition and higher-value business accounts.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49808" y="1938528"/>
            <a:ext cx="3401568" cy="3429000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DCE8E3"/>
            </a:solidFill>
            <a:prstDash val="solid"/>
          </a:ln>
          <a:effectLst>
            <a:outerShdw sx="100000" sy="100000" kx="0" ky="0" algn="bl" rotWithShape="0" blurRad="12700" dist="50800" dir="2700000">
              <a:srgbClr val="64748B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2212848"/>
            <a:ext cx="749808" cy="310896"/>
          </a:xfrm>
          <a:prstGeom prst="roundRect">
            <a:avLst>
              <a:gd name="adj" fmla="val 23529"/>
            </a:avLst>
          </a:prstGeom>
          <a:solidFill>
            <a:srgbClr val="DDF7EC"/>
          </a:solidFill>
          <a:ln w="12700">
            <a:solidFill>
              <a:srgbClr val="DDF7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" y="2276856"/>
            <a:ext cx="6035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</a:rPr>
              <a:t>SOLO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05840" y="278892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31C"/>
                </a:solidFill>
              </a:rPr>
              <a:t>AI Nutrition Companion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05840" y="34015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7169"/>
                </a:solidFill>
              </a:rPr>
              <a:t>For individuals without a coach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05840" y="3931920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16736" y="3931920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231C"/>
                </a:solidFill>
              </a:rPr>
              <a:t>Personal targets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05840" y="4297680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16736" y="4297680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231C"/>
                </a:solidFill>
              </a:rPr>
              <a:t>AI meal insights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663440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16736" y="4663440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231C"/>
                </a:solidFill>
              </a:rPr>
              <a:t>History &amp; streaks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0" y="1938528"/>
            <a:ext cx="3401568" cy="3429000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DCE8E3"/>
            </a:solidFill>
            <a:prstDash val="solid"/>
          </a:ln>
          <a:effectLst>
            <a:outerShdw sx="100000" sy="100000" kx="0" ky="0" algn="bl" rotWithShape="0" blurRad="12700" dist="50800" dir="2700000">
              <a:srgbClr val="64748B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28032" y="2212848"/>
            <a:ext cx="749808" cy="310896"/>
          </a:xfrm>
          <a:prstGeom prst="roundRect">
            <a:avLst>
              <a:gd name="adj" fmla="val 23529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01184" y="2276856"/>
            <a:ext cx="6035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84C7"/>
                </a:solidFill>
              </a:rPr>
              <a:t>COACH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28032" y="278892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31C"/>
                </a:solidFill>
              </a:rPr>
              <a:t>Professional Workspace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828032" y="34015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7169"/>
                </a:solidFill>
              </a:rPr>
              <a:t>For independent coaches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28032" y="3931920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4C7"/>
                </a:solidFill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38928" y="3931920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231C"/>
                </a:solidFill>
              </a:rPr>
              <a:t>Client dashboard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28032" y="4297680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4C7"/>
                </a:solidFill>
              </a:rPr>
              <a:t>✓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38928" y="4297680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231C"/>
                </a:solidFill>
              </a:rPr>
              <a:t>Targets &amp; feedback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828032" y="4663440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4C7"/>
                </a:solidFill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38928" y="4663440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231C"/>
                </a:solidFill>
              </a:rPr>
              <a:t>AI reports &amp; nudges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394192" y="1938528"/>
            <a:ext cx="3401568" cy="3429000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  <a:effectLst>
            <a:outerShdw sx="100000" sy="100000" kx="0" ky="0" algn="bl" rotWithShape="0" blurRad="12700" dist="50800" dir="2700000">
              <a:srgbClr val="64748B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650224" y="2212848"/>
            <a:ext cx="749808" cy="310896"/>
          </a:xfrm>
          <a:prstGeom prst="roundRect">
            <a:avLst>
              <a:gd name="adj" fmla="val 23529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23376" y="2276856"/>
            <a:ext cx="6035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GYM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650224" y="278892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31C"/>
                </a:solidFill>
              </a:rPr>
              <a:t>White-Label Platform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8650224" y="34015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7169"/>
                </a:solidFill>
              </a:rPr>
              <a:t>For fitness businesses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650224" y="3931920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</a:rPr>
              <a:t>✓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961120" y="3931920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231C"/>
                </a:solidFill>
              </a:rPr>
              <a:t>Custom branding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650224" y="4297680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</a:rPr>
              <a:t>✓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961120" y="4297680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231C"/>
                </a:solidFill>
              </a:rPr>
              <a:t>Multi-coach / multi-client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650224" y="4663440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</a:rPr>
              <a:t>✓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961120" y="4663440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2231C"/>
                </a:solidFill>
              </a:rPr>
              <a:t>Admin &amp; engagement tools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325880" y="5669280"/>
            <a:ext cx="9555480" cy="457200"/>
          </a:xfrm>
          <a:prstGeom prst="roundRect">
            <a:avLst>
              <a:gd name="adj" fmla="val 16000"/>
            </a:avLst>
          </a:prstGeom>
          <a:solidFill>
            <a:srgbClr val="10251D"/>
          </a:solidFill>
          <a:ln w="12700">
            <a:solidFill>
              <a:srgbClr val="10251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600200" y="5797296"/>
            <a:ext cx="9006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F3DC"/>
                </a:solidFill>
              </a:rPr>
              <a:t>Revenue expansion: subscriptions  ·  per-seat / per-client tiers  ·  onboarding  ·  premium AI modules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8368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1148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59669"/>
                </a:solidFill>
              </a:rPr>
              <a:t>GO-TO-MARKET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21792" y="749808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231C"/>
                </a:solidFill>
              </a:rPr>
              <a:t>Start with coaches. Expand through their client networks.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5331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169"/>
                </a:solidFill>
              </a:rPr>
              <a:t>A focused B2B2C route lowers acquisition friction and embeds the platform into existing relationships.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67512" y="2084832"/>
            <a:ext cx="2514600" cy="288036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2700">
            <a:solidFill>
              <a:srgbClr val="DCE8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36192" y="2359152"/>
            <a:ext cx="749808" cy="74980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36192" y="2542032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331927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1C"/>
                </a:solidFill>
              </a:rPr>
              <a:t>Design partners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23544" y="3730752"/>
            <a:ext cx="19933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607169"/>
                </a:solidFill>
              </a:rPr>
              <a:t>Recruit independent coaches and boutique gyms for structured pilots.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1325880" y="4498848"/>
            <a:ext cx="1207008" cy="310896"/>
          </a:xfrm>
          <a:prstGeom prst="roundRect">
            <a:avLst>
              <a:gd name="adj" fmla="val 23529"/>
            </a:avLst>
          </a:prstGeom>
          <a:solidFill>
            <a:srgbClr val="DDF7EC"/>
          </a:solidFill>
          <a:ln w="12700">
            <a:solidFill>
              <a:srgbClr val="DDF7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99032" y="4562856"/>
            <a:ext cx="1060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</a:rPr>
              <a:t>0–3 months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246120" y="3246120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59669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538728" y="2084832"/>
            <a:ext cx="2514600" cy="288036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2700">
            <a:solidFill>
              <a:srgbClr val="DCE8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07408" y="2359152"/>
            <a:ext cx="749808" cy="749808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2542032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767328" y="331927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1C"/>
                </a:solidFill>
              </a:rPr>
              <a:t>Prove retention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794760" y="3730752"/>
            <a:ext cx="19933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607169"/>
                </a:solidFill>
              </a:rPr>
              <a:t>Track activation, meal-logging frequency, coach response and client retention.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4197096" y="4498848"/>
            <a:ext cx="1207008" cy="310896"/>
          </a:xfrm>
          <a:prstGeom prst="roundRect">
            <a:avLst>
              <a:gd name="adj" fmla="val 23529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70248" y="4562856"/>
            <a:ext cx="1060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84C7"/>
                </a:solidFill>
              </a:rPr>
              <a:t>3–6 months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117336" y="3246120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59669"/>
                </a:solidFill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09944" y="2084832"/>
            <a:ext cx="2514600" cy="288036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2700">
            <a:solidFill>
              <a:srgbClr val="DCE8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78624" y="2359152"/>
            <a:ext cx="749808" cy="74980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78624" y="2542032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638544" y="331927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1C"/>
                </a:solidFill>
              </a:rPr>
              <a:t>Package &amp; sell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665976" y="3730752"/>
            <a:ext cx="19933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607169"/>
                </a:solidFill>
              </a:rPr>
              <a:t>Launch tiered coach/gym plans with onboarding and referral incentives.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7068312" y="4498848"/>
            <a:ext cx="1207008" cy="310896"/>
          </a:xfrm>
          <a:prstGeom prst="roundRect">
            <a:avLst>
              <a:gd name="adj" fmla="val 23529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41464" y="4562856"/>
            <a:ext cx="1060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6–12 months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988552" y="3246120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59669"/>
                </a:solidFill>
              </a:rPr>
              <a:t>→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281160" y="2084832"/>
            <a:ext cx="2514600" cy="288036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2700">
            <a:solidFill>
              <a:srgbClr val="DCE8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149840" y="2359152"/>
            <a:ext cx="749808" cy="749808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149840" y="2542032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509760" y="331927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1C"/>
                </a:solidFill>
              </a:rPr>
              <a:t>Scale channels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537192" y="3730752"/>
            <a:ext cx="199339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607169"/>
                </a:solidFill>
              </a:rPr>
              <a:t>Partner with fitness networks, wellness programmes and professional bodies.</a:t>
            </a:r>
            <a:endParaRPr lang="en-US" sz="980" dirty="0"/>
          </a:p>
        </p:txBody>
      </p:sp>
      <p:sp>
        <p:nvSpPr>
          <p:cNvPr id="34" name="Shape 32"/>
          <p:cNvSpPr/>
          <p:nvPr/>
        </p:nvSpPr>
        <p:spPr>
          <a:xfrm>
            <a:off x="9939528" y="4498848"/>
            <a:ext cx="1207008" cy="310896"/>
          </a:xfrm>
          <a:prstGeom prst="roundRect">
            <a:avLst>
              <a:gd name="adj" fmla="val 23529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012680" y="4562856"/>
            <a:ext cx="1060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</a:rPr>
              <a:t>12+ months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2960" y="541324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31C"/>
                </a:solidFill>
              </a:rPr>
              <a:t>Pilot success metrics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2743200" y="5285232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59669"/>
                </a:solidFill>
              </a:rPr>
              <a:t>≥60%</a:t>
            </a:r>
            <a:endParaRPr lang="en-US" sz="2700" dirty="0"/>
          </a:p>
        </p:txBody>
      </p:sp>
      <p:sp>
        <p:nvSpPr>
          <p:cNvPr id="38" name="Text 36"/>
          <p:cNvSpPr/>
          <p:nvPr/>
        </p:nvSpPr>
        <p:spPr>
          <a:xfrm>
            <a:off x="2743200" y="57607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169"/>
                </a:solidFill>
              </a:rPr>
              <a:t>Weekly active students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07169"/>
                </a:solidFill>
              </a:rPr>
              <a:t>(illustrative target)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828032" y="5285232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284C7"/>
                </a:solidFill>
              </a:rPr>
              <a:t>≥4×</a:t>
            </a:r>
            <a:endParaRPr lang="en-US" sz="2700" dirty="0"/>
          </a:p>
        </p:txBody>
      </p:sp>
      <p:sp>
        <p:nvSpPr>
          <p:cNvPr id="40" name="Text 38"/>
          <p:cNvSpPr/>
          <p:nvPr/>
        </p:nvSpPr>
        <p:spPr>
          <a:xfrm>
            <a:off x="4828032" y="57607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169"/>
                </a:solidFill>
              </a:rPr>
              <a:t>Meal logs per active user/week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07169"/>
                </a:solidFill>
              </a:rPr>
              <a:t>(illustrative target)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912864" y="5285232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7C3AED"/>
                </a:solidFill>
              </a:rPr>
              <a:t>&lt;24h</a:t>
            </a:r>
            <a:endParaRPr lang="en-US" sz="2700" dirty="0"/>
          </a:p>
        </p:txBody>
      </p:sp>
      <p:sp>
        <p:nvSpPr>
          <p:cNvPr id="42" name="Text 40"/>
          <p:cNvSpPr/>
          <p:nvPr/>
        </p:nvSpPr>
        <p:spPr>
          <a:xfrm>
            <a:off x="6912864" y="57607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169"/>
                </a:solidFill>
              </a:rPr>
              <a:t>Coach response time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07169"/>
                </a:solidFill>
              </a:rPr>
              <a:t>(illustrative target)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997696" y="5285232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97316"/>
                </a:solidFill>
              </a:rPr>
              <a:t>≥80%</a:t>
            </a:r>
            <a:endParaRPr lang="en-US" sz="2700" dirty="0"/>
          </a:p>
        </p:txBody>
      </p:sp>
      <p:sp>
        <p:nvSpPr>
          <p:cNvPr id="44" name="Text 42"/>
          <p:cNvSpPr/>
          <p:nvPr/>
        </p:nvSpPr>
        <p:spPr>
          <a:xfrm>
            <a:off x="8997696" y="57607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169"/>
                </a:solidFill>
              </a:rPr>
              <a:t>Pilot retention at 8 weeks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07169"/>
                </a:solidFill>
              </a:rPr>
              <a:t>(illustrative target)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8368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1148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59669"/>
                </a:solidFill>
              </a:rPr>
              <a:t>FUNDING IMPACT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21792" y="749808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231C"/>
                </a:solidFill>
              </a:rPr>
              <a:t>Convert a working product into a market-ready venture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53312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169"/>
                </a:solidFill>
              </a:rPr>
              <a:t>Funding will accelerate product hardening, validated pilots and repeatable commercial deployment.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993392"/>
            <a:ext cx="67208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CE8E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14884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</a:rPr>
              <a:t>35%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828800" y="2139696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1C"/>
                </a:solidFill>
              </a:rPr>
              <a:t>Product &amp; AI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337560" y="2139696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07169"/>
                </a:solidFill>
              </a:rPr>
              <a:t>Model quality, nutrition workflows, analytics and coach intelligence.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777240" y="2889504"/>
            <a:ext cx="67208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CE8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04495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4C7"/>
                </a:solidFill>
              </a:rPr>
              <a:t>25%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828800" y="303580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1C"/>
                </a:solidFill>
              </a:rPr>
              <a:t>Pilot delivery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37560" y="3035808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07169"/>
                </a:solidFill>
              </a:rPr>
              <a:t>Onboarding, support and structured validation with fitness partners.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777240" y="3785616"/>
            <a:ext cx="67208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CE8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941064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C3AED"/>
                </a:solidFill>
              </a:rPr>
              <a:t>20%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828800" y="3931920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1C"/>
                </a:solidFill>
              </a:rPr>
              <a:t>Security &amp; compliance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37560" y="393192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07169"/>
                </a:solidFill>
              </a:rPr>
              <a:t>Privacy controls, auditability, testing and operational resilience.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7240" y="4681728"/>
            <a:ext cx="67208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CE8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83717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7316"/>
                </a:solidFill>
              </a:rPr>
              <a:t>20%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828800" y="4828032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1C"/>
                </a:solidFill>
              </a:rPr>
              <a:t>Market development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337560" y="4828032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07169"/>
                </a:solidFill>
              </a:rPr>
              <a:t>Sales materials, partnerships, customer success and channel experiments.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7909560" y="1993392"/>
            <a:ext cx="3447288" cy="3364992"/>
          </a:xfrm>
          <a:prstGeom prst="roundRect">
            <a:avLst>
              <a:gd name="adj" fmla="val 4348"/>
            </a:avLst>
          </a:prstGeom>
          <a:solidFill>
            <a:srgbClr val="10251D"/>
          </a:solidFill>
          <a:ln w="12700">
            <a:solidFill>
              <a:srgbClr val="10251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75320" y="2359152"/>
            <a:ext cx="2697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10" kern="0" dirty="0">
                <a:solidFill>
                  <a:srgbClr val="6EE7B7"/>
                </a:solidFill>
              </a:rPr>
              <a:t>EXPECTED OUTPUTS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275320" y="2816352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E7B7"/>
                </a:solidFill>
              </a:rPr>
              <a:t>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613648" y="2816352"/>
            <a:ext cx="2240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FFFFFF"/>
                </a:solidFill>
              </a:rPr>
              <a:t>Pilot-ready coach &amp; gym onboarding</a:t>
            </a:r>
            <a:endParaRPr lang="en-US" sz="960" dirty="0"/>
          </a:p>
        </p:txBody>
      </p:sp>
      <p:sp>
        <p:nvSpPr>
          <p:cNvPr id="25" name="Text 23"/>
          <p:cNvSpPr/>
          <p:nvPr/>
        </p:nvSpPr>
        <p:spPr>
          <a:xfrm>
            <a:off x="8275320" y="3246120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E7B7"/>
                </a:solidFill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613648" y="3246120"/>
            <a:ext cx="2240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FFFFFF"/>
                </a:solidFill>
              </a:rPr>
              <a:t>Measured engagement and retention evidence</a:t>
            </a:r>
            <a:endParaRPr lang="en-US" sz="960" dirty="0"/>
          </a:p>
        </p:txBody>
      </p:sp>
      <p:sp>
        <p:nvSpPr>
          <p:cNvPr id="27" name="Text 25"/>
          <p:cNvSpPr/>
          <p:nvPr/>
        </p:nvSpPr>
        <p:spPr>
          <a:xfrm>
            <a:off x="8275320" y="367588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E7B7"/>
                </a:solidFill>
              </a:rPr>
              <a:t>✓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613648" y="3675888"/>
            <a:ext cx="2240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FFFFFF"/>
                </a:solidFill>
              </a:rPr>
              <a:t>Improved AI accuracy and safety controls</a:t>
            </a:r>
            <a:endParaRPr lang="en-US" sz="960" dirty="0"/>
          </a:p>
        </p:txBody>
      </p:sp>
      <p:sp>
        <p:nvSpPr>
          <p:cNvPr id="29" name="Text 27"/>
          <p:cNvSpPr/>
          <p:nvPr/>
        </p:nvSpPr>
        <p:spPr>
          <a:xfrm>
            <a:off x="8275320" y="4105656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E7B7"/>
                </a:solidFill>
              </a:rPr>
              <a:t>✓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613648" y="4105656"/>
            <a:ext cx="2240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FFFFFF"/>
                </a:solidFill>
              </a:rPr>
              <a:t>Commercial pricing and sales playbook</a:t>
            </a:r>
            <a:endParaRPr lang="en-US" sz="960" dirty="0"/>
          </a:p>
        </p:txBody>
      </p:sp>
      <p:sp>
        <p:nvSpPr>
          <p:cNvPr id="31" name="Text 29"/>
          <p:cNvSpPr/>
          <p:nvPr/>
        </p:nvSpPr>
        <p:spPr>
          <a:xfrm>
            <a:off x="8275320" y="4535424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E7B7"/>
                </a:solidFill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613648" y="4535424"/>
            <a:ext cx="22402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FFFFFF"/>
                </a:solidFill>
              </a:rPr>
              <a:t>Scalable, secure production operations</a:t>
            </a:r>
            <a:endParaRPr lang="en-US" sz="960" dirty="0"/>
          </a:p>
        </p:txBody>
      </p:sp>
      <p:sp>
        <p:nvSpPr>
          <p:cNvPr id="33" name="Text 31"/>
          <p:cNvSpPr/>
          <p:nvPr/>
        </p:nvSpPr>
        <p:spPr>
          <a:xfrm>
            <a:off x="841248" y="5815584"/>
            <a:ext cx="6629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07169"/>
                </a:solidFill>
              </a:rPr>
              <a:t>Note: allocation percentages are proposed and can be adapted to the selected funding scheme.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58368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1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25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ocs/funding-deck-assets/gorill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68680"/>
            <a:ext cx="1417320" cy="1417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41248" y="2423160"/>
            <a:ext cx="71780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Nutrition coaching that scales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without losing the human connection.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868680" y="404164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9F3DC"/>
                </a:solidFill>
              </a:rPr>
              <a:t>A working product. A clear B2B2C model. A measurable path to impact.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458200" y="1024128"/>
            <a:ext cx="2834640" cy="4434840"/>
          </a:xfrm>
          <a:prstGeom prst="roundRect">
            <a:avLst>
              <a:gd name="adj" fmla="val 5161"/>
            </a:avLst>
          </a:prstGeom>
          <a:solidFill>
            <a:srgbClr val="123E31"/>
          </a:solidFill>
          <a:ln w="12700">
            <a:solidFill>
              <a:srgbClr val="2B5D4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887968" y="153619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40" kern="0" dirty="0">
                <a:solidFill>
                  <a:srgbClr val="6EE7B7"/>
                </a:solidFill>
              </a:rPr>
              <a:t>LIVE DEMO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8686800" y="193852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fitclub-pearl.vercel.app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823960" y="281635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F3DC"/>
                </a:solidFill>
              </a:rPr>
              <a:t>Demo accounts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732520" y="3182112"/>
            <a:ext cx="22860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Student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student@gmail.com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Coach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owner@gmail.com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5806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E7B7"/>
                </a:solidFill>
              </a:rPr>
              <a:t>Thank you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68680" y="6254496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1A49B"/>
                </a:solidFill>
              </a:rPr>
              <a:t>Government Entrepreneurship Funding · Product Demonstration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Nutrition Coach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 Coach — Funding Application Product Demonstration</dc:title>
  <dc:subject>Government Entrepreneurship Funding — Product Demonstration</dc:subject>
  <dc:creator>Nutrition Coach</dc:creator>
  <cp:lastModifiedBy>Nutrition Coach</cp:lastModifiedBy>
  <cp:revision>1</cp:revision>
  <dcterms:created xsi:type="dcterms:W3CDTF">2026-07-22T07:10:51Z</dcterms:created>
  <dcterms:modified xsi:type="dcterms:W3CDTF">2026-07-22T07:10:51Z</dcterms:modified>
</cp:coreProperties>
</file>